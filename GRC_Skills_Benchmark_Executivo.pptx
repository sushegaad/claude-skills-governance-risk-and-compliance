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Sem Skill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Sheet1!$A$2:$A$6</c:f>
              <c:strCache>
                <c:ptCount val="5"/>
                <c:pt idx="0">
                  <c:v>Especificidade</c:v>
                </c:pt>
                <c:pt idx="1">
                  <c:v>Estrutura</c:v>
                </c:pt>
                <c:pt idx="2">
                  <c:v>Completude</c:v>
                </c:pt>
                <c:pt idx="3">
                  <c:v>Aplicabilidade</c:v>
                </c:pt>
                <c:pt idx="4">
                  <c:v>Precisao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1.96</c:v>
                </c:pt>
                <c:pt idx="1">
                  <c:v>2.85</c:v>
                </c:pt>
                <c:pt idx="2">
                  <c:v>2.96</c:v>
                </c:pt>
                <c:pt idx="3">
                  <c:v>3.22</c:v>
                </c:pt>
                <c:pt idx="4">
                  <c:v>3.63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Skill</c:v>
                </c:pt>
              </c:strCache>
            </c:strRef>
          </c:tx>
          <c:spPr>
            <a:solidFill>
              <a:srgbClr val="4EC98B"/>
            </a:solidFill>
          </c:spPr>
          <c:cat>
            <c:strRef>
              <c:f>Sheet1!$A$2:$A$6</c:f>
              <c:strCache>
                <c:ptCount val="5"/>
                <c:pt idx="0">
                  <c:v>Especificidade</c:v>
                </c:pt>
                <c:pt idx="1">
                  <c:v>Estrutura</c:v>
                </c:pt>
                <c:pt idx="2">
                  <c:v>Completude</c:v>
                </c:pt>
                <c:pt idx="3">
                  <c:v>Aplicabilidade</c:v>
                </c:pt>
                <c:pt idx="4">
                  <c:v>Precisao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4.96</c:v>
                </c:pt>
                <c:pt idx="1">
                  <c:v>4.85</c:v>
                </c:pt>
                <c:pt idx="2">
                  <c:v>5.0</c:v>
                </c:pt>
                <c:pt idx="3">
                  <c:v>4.78</c:v>
                </c:pt>
                <c:pt idx="4">
                  <c:v>5.0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Sem Skill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Sheet1!$A$2:$A$4</c:f>
              <c:strCache>
                <c:ptCount val="3"/>
                <c:pt idx="0">
                  <c:v>ISO 27001</c:v>
                </c:pt>
                <c:pt idx="1">
                  <c:v>GDPR</c:v>
                </c:pt>
                <c:pt idx="2">
                  <c:v>NIST CSF 2.0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13.56</c:v>
                </c:pt>
                <c:pt idx="1">
                  <c:v>15.22</c:v>
                </c:pt>
                <c:pt idx="2">
                  <c:v>15.11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Skill</c:v>
                </c:pt>
              </c:strCache>
            </c:strRef>
          </c:tx>
          <c:spPr>
            <a:solidFill>
              <a:srgbClr val="4EC98B"/>
            </a:solidFill>
          </c:spPr>
          <c:cat>
            <c:strRef>
              <c:f>Sheet1!$A$2:$A$4</c:f>
              <c:strCache>
                <c:ptCount val="3"/>
                <c:pt idx="0">
                  <c:v>ISO 27001</c:v>
                </c:pt>
                <c:pt idx="1">
                  <c:v>GDPR</c:v>
                </c:pt>
                <c:pt idx="2">
                  <c:v>NIST CSF 2.0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24.67</c:v>
                </c:pt>
                <c:pt idx="1">
                  <c:v>24.56</c:v>
                </c:pt>
                <c:pt idx="2">
                  <c:v>24.56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GRC Skills para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E9AF5"/>
                </a:solidFill>
                <a:latin typeface="Calibri"/>
              </a:defRPr>
            </a:pPr>
            <a:r>
              <a:t>Resultados do Benchmark de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ISO 27001  |  GDPR  |  NIST CSF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Abril 2026  |  54 avaliacoes  |  3 frameworks  |  Claude Opus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Fernando P. Marciano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O que sao GRC Skills?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Skills sao modulos de conhecimento especializado que podem ser carregados em assistentes de IA para melhorar suas respostas em dominios especificos de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004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200400" cy="762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Calibri"/>
              </a:defRPr>
            </a:pPr>
            <a:r>
              <a:t>ISO 27001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Gestao de Seguranca</a:t>
            </a:r>
            <a:br/>
            <a:r>
              <a:t>da Informacao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9AF5"/>
                </a:solidFill>
                <a:latin typeface="Calibri"/>
              </a:defRPr>
            </a:pPr>
            <a:r>
              <a:t>93 controles</a:t>
            </a:r>
            <a:br/>
            <a:r>
              <a:t>4 temas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2004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560320"/>
            <a:ext cx="3200400" cy="7620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Calibri"/>
              </a:defRPr>
            </a:pPr>
            <a:r>
              <a:t>GDPR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Protecao de Dados</a:t>
            </a:r>
            <a:br/>
            <a:r>
              <a:t>Pessoais (UE)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8B"/>
                </a:solidFill>
                <a:latin typeface="Calibri"/>
              </a:defRPr>
            </a:pPr>
            <a:r>
              <a:t>99 artigos</a:t>
            </a:r>
            <a:br/>
            <a:r>
              <a:t>173 recitais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2004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560320"/>
            <a:ext cx="3200400" cy="76200"/>
          </a:xfrm>
          <a:prstGeom prst="rect">
            <a:avLst/>
          </a:prstGeom>
          <a:solidFill>
            <a:srgbClr val="A87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Calibri"/>
              </a:defRPr>
            </a:pPr>
            <a:r>
              <a:t>NIST CSF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Framework de</a:t>
            </a:r>
            <a:br/>
            <a:r>
              <a:t>Cyberseguranca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89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7CF7"/>
                </a:solidFill>
                <a:latin typeface="Calibri"/>
              </a:defRPr>
            </a:pPr>
            <a:r>
              <a:t>6 funcoes</a:t>
            </a:r>
            <a:br/>
            <a:r>
              <a:t>106 subcategorias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Pergunta central: A IA responde melhor sobre compliance quando tem uma skill carregada?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Como testamos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E9AF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cenarios reais</a:t>
            </a:r>
            <a:br/>
            <a:r>
              <a:t>de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E9AF5"/>
                </a:solidFill>
                <a:latin typeface="Calibri"/>
              </a:defRPr>
            </a:pPr>
            <a:r>
              <a:t>x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94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condicoes</a:t>
            </a:r>
            <a:br/>
            <a:r>
              <a:t>(com e sem skill)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E9AF5"/>
                </a:solidFill>
                <a:latin typeface="Calibri"/>
              </a:defRPr>
            </a:pPr>
            <a:r>
              <a:t>x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94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repeticoes</a:t>
            </a:r>
            <a:br/>
            <a:r>
              <a:t>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E9AF5"/>
                </a:solidFill>
                <a:latin typeface="Calibri"/>
              </a:defRPr>
            </a:pPr>
            <a:r>
              <a:t>= 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194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avaliacoes</a:t>
            </a:r>
            <a:br/>
            <a:r>
              <a:t>independentes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5 criterios de qualidade (escala 1-5):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920240" cy="1645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920240" cy="635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Precisao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Informacoes corretas?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840480"/>
            <a:ext cx="1920240" cy="1645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3840480"/>
            <a:ext cx="1920240" cy="6350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4069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Especificidade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572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Cita controles exatos?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840480"/>
            <a:ext cx="1920240" cy="1645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3840480"/>
            <a:ext cx="1920240" cy="63500"/>
          </a:xfrm>
          <a:prstGeom prst="rect">
            <a:avLst/>
          </a:prstGeom>
          <a:solidFill>
            <a:srgbClr val="A87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069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Estrutura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572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Formato auditavel?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199" y="3840480"/>
            <a:ext cx="1920240" cy="1645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199" y="3840480"/>
            <a:ext cx="1920240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59" y="4069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Aplicabilidade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4572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Pratico e implementavel?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3840480"/>
            <a:ext cx="1920240" cy="1645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3840480"/>
            <a:ext cx="1920240" cy="6350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4069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Completude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4572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Cobre tudo?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Resultado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4EC98B"/>
                </a:solidFill>
                <a:latin typeface="Calibri"/>
              </a:defRPr>
            </a:pPr>
            <a:r>
              <a:t>+68%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melhoria geral na qualidade das respostas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3657600" cy="182880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5D"/>
                </a:solidFill>
                <a:latin typeface="Calibri"/>
              </a:defRPr>
            </a:pPr>
            <a:r>
              <a:t>SEM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663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CCCC"/>
                </a:solidFill>
                <a:latin typeface="Calibri"/>
              </a:defRPr>
            </a:pPr>
            <a:r>
              <a:t>14.6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58% da pontuacao maxima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114800"/>
            <a:ext cx="3657600" cy="182880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COM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663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24.6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8B"/>
                </a:solidFill>
                <a:latin typeface="Calibri"/>
              </a:defRPr>
            </a:pPr>
            <a:r>
              <a:t>98% da pontuacao maxima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5720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EC98B"/>
                </a:solidFill>
                <a:latin typeface="Calibri"/>
              </a:defRPr>
            </a:pPr>
            <a:r>
              <a:t>&gt;&gt;&gt;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Melhoria por Criterio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6858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B"/>
                </a:solidFill>
                <a:latin typeface="Calibri"/>
              </a:defRPr>
            </a:pPr>
            <a:r>
              <a:t>+153%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Cita controles, artigos, IDs exatos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B"/>
                </a:solidFill>
                <a:latin typeface="Calibri"/>
              </a:defRPr>
            </a:pPr>
            <a:r>
              <a:t>+70%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Tabelas, gap analysis, formato auditavel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B"/>
                </a:solidFill>
                <a:latin typeface="Calibri"/>
              </a:defRPr>
            </a:pPr>
            <a:r>
              <a:t>+69%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5204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Nenhum aspecto relevante omitido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B"/>
                </a:solidFill>
                <a:latin typeface="Calibri"/>
              </a:defRPr>
            </a:pPr>
            <a:r>
              <a:t>+48%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Owners, prazos, fases 30/60/90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8B"/>
                </a:solidFill>
                <a:latin typeface="Calibri"/>
              </a:defRPr>
            </a:pPr>
            <a:r>
              <a:t>+38%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440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Baseline ja razoavel; skill refina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Exemplo: Incidente de Credenciais via Slack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12080" cy="6350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5D"/>
                </a:solidFill>
                <a:latin typeface="Calibri"/>
              </a:defRPr>
            </a:pPr>
            <a:r>
              <a:t>SEM skill — Score: 13/25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"Revogue as credenciais, rotacione senhas, e</a:t>
            </a:r>
          </a:p>
          <a:p>
            <a:pPr>
              <a:spcAft>
                <a:spcPts val="576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treine a equipe sobre boas praticas de seguranca</a:t>
            </a:r>
          </a:p>
          <a:p>
            <a:pPr>
              <a:spcAft>
                <a:spcPts val="576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 informacao. Isso se relaciona com controles</a:t>
            </a:r>
          </a:p>
          <a:p>
            <a:pPr>
              <a:spcAft>
                <a:spcPts val="576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 acesso do ISO 27001."</a:t>
            </a:r>
          </a:p>
          <a:p>
            <a:pPr>
              <a:spcAft>
                <a:spcPts val="576"/>
              </a:spcAft>
              <a:defRPr sz="1000" b="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576"/>
              </a:spcAft>
              <a:defRPr sz="1500" b="1">
                <a:solidFill>
                  <a:srgbClr val="E85D5D"/>
                </a:solidFill>
                <a:latin typeface="Calibri"/>
              </a:defRPr>
            </a:pPr>
            <a:r>
              <a:t>Problemas:</a:t>
            </a:r>
          </a:p>
          <a:p>
            <a:pPr>
              <a:spcAft>
                <a:spcPts val="576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- Nenhum controle especifico citado</a:t>
            </a:r>
          </a:p>
          <a:p>
            <a:pPr>
              <a:spcAft>
                <a:spcPts val="576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- Sem formato de auditoria</a:t>
            </a:r>
          </a:p>
          <a:p>
            <a:pPr>
              <a:spcAft>
                <a:spcPts val="576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- Sem timeline de acoes</a:t>
            </a:r>
          </a:p>
          <a:p>
            <a:pPr>
              <a:spcAft>
                <a:spcPts val="576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- Omite DLP, monitoramento, incidentes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0F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212080" cy="6350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8B"/>
                </a:solidFill>
                <a:latin typeface="Calibri"/>
              </a:defRPr>
            </a:pPr>
            <a:r>
              <a:t>COM skill — Score: 25/25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Controles ISO 27001:2022 identificados:</a:t>
            </a:r>
          </a:p>
          <a:p>
            <a:pPr>
              <a:spcAft>
                <a:spcPts val="576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A.5.10 — Uso aceitavel de informacao</a:t>
            </a:r>
          </a:p>
          <a:p>
            <a:pPr>
              <a:spcAft>
                <a:spcPts val="576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A.5.14 — Transferencia de informacao</a:t>
            </a:r>
          </a:p>
          <a:p>
            <a:pPr>
              <a:spcAft>
                <a:spcPts val="576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A.5.17 — Informacao de autenticacao</a:t>
            </a:r>
          </a:p>
          <a:p>
            <a:pPr>
              <a:spcAft>
                <a:spcPts val="576"/>
              </a:spcAft>
              <a:defRPr sz="1200" b="0">
                <a:solidFill>
                  <a:srgbClr val="4EC98B"/>
                </a:solidFill>
                <a:latin typeface="Calibri"/>
              </a:defRPr>
            </a:pPr>
            <a:r>
              <a:t>  A.8.12 — Prevencao vazamento (novo 2022)</a:t>
            </a:r>
          </a:p>
          <a:p>
            <a:pPr>
              <a:spcAft>
                <a:spcPts val="576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A.8.16 — Atividades de monitoramento</a:t>
            </a:r>
          </a:p>
          <a:p>
            <a:pPr>
              <a:spcAft>
                <a:spcPts val="576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A.5.24 — Gestao de incidentes</a:t>
            </a:r>
          </a:p>
          <a:p>
            <a:pPr>
              <a:spcAft>
                <a:spcPts val="576"/>
              </a:spcAft>
              <a:defRPr sz="800" b="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576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Acoes imediatas (0-24h): revogar, auditar Slack</a:t>
            </a:r>
          </a:p>
          <a:p>
            <a:pPr>
              <a:spcAft>
                <a:spcPts val="576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Curto prazo (1-2 sem): secrets manager, DLP</a:t>
            </a:r>
          </a:p>
          <a:p>
            <a:pPr>
              <a:spcAft>
                <a:spcPts val="576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Evidencias: logs Slack Admin, registro incidente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Resultados por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9AF5"/>
                </a:solidFill>
                <a:latin typeface="Calibri"/>
              </a:defRPr>
            </a:pPr>
            <a:r>
              <a:t>+82%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737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Maior ganho. Sistema de numeracao</a:t>
            </a:r>
            <a:br/>
            <a:r>
              <a:t>complexo (93 controles, 4 temas,</a:t>
            </a:r>
            <a:br/>
            <a:r>
              <a:t>11 novos em 2022) se beneficia</a:t>
            </a:r>
            <a:br/>
            <a:r>
              <a:t>muito de dados de referencia.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8B"/>
                </a:solidFill>
                <a:latin typeface="Calibri"/>
              </a:defRPr>
            </a:pPr>
            <a:r>
              <a:t>+61%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3832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Citacao obrigatoria de artigos</a:t>
            </a:r>
            <a:br/>
            <a:r>
              <a:t>transforma respostas vagas em</a:t>
            </a:r>
            <a:br/>
            <a:r>
              <a:t>orientacao juridica precisa.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7CF7"/>
                </a:solidFill>
                <a:latin typeface="Calibri"/>
              </a:defRPr>
            </a:pPr>
            <a:r>
              <a:t>+62%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5029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Subcategorias, tiers, mapeamentos</a:t>
            </a:r>
            <a:br/>
            <a:r>
              <a:t>cruzados (800-53, CIS) agregam</a:t>
            </a:r>
            <a:br/>
            <a:r>
              <a:t>valor significativo.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Confiabilidade Estatistica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3200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468880" cy="635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E9AF5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avaliacoes</a:t>
            </a:r>
            <a:br/>
            <a:r>
              <a:t>independentes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27 baseline + 27 com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468880" cy="3200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371600"/>
            <a:ext cx="2468880" cy="6350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EC98B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repeticoes</a:t>
            </a:r>
            <a:br/>
            <a:r>
              <a:t>por teste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2918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Media, desvio padrao, IC 95%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468880" cy="3200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468880" cy="63500"/>
          </a:xfrm>
          <a:prstGeom prst="rect">
            <a:avLst/>
          </a:prstGeom>
          <a:solidFill>
            <a:srgbClr val="A87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87CF7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overlap nos</a:t>
            </a:r>
            <a:br/>
            <a:r>
              <a:t>intervalos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Diferenca significativa</a:t>
            </a:r>
            <a:br/>
            <a:r>
              <a:t>em TODOS os criterios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371600"/>
            <a:ext cx="2468880" cy="3200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468880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A623"/>
                </a:solidFill>
                <a:latin typeface="Calibri"/>
              </a:defRPr>
            </a:pPr>
            <a:r>
              <a:t>-46%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reducao de</a:t>
            </a:r>
            <a:br/>
            <a:r>
              <a:t>variancia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2918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Respostas mais</a:t>
            </a:r>
            <a:br/>
            <a:r>
              <a:t>previsiveis com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Intervalos de Confianca 95% — nenhuma sobreposicao entre condicoes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5303520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28600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</a:t>
                      </a:r>
                    </a:p>
                  </a:txBody>
                  <a:tcPr>
                    <a:solidFill>
                      <a:srgbClr val="4E9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IC 95%</a:t>
                      </a:r>
                    </a:p>
                  </a:txBody>
                  <a:tcPr>
                    <a:solidFill>
                      <a:srgbClr val="4E9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 Skill IC 95%</a:t>
                      </a:r>
                    </a:p>
                  </a:txBody>
                  <a:tcPr>
                    <a:solidFill>
                      <a:srgbClr val="4E9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Significativo?</a:t>
                      </a:r>
                    </a:p>
                  </a:txBody>
                  <a:tcPr>
                    <a:solidFill>
                      <a:srgbClr val="4E9A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Precisao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[3.44 — 3.82]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[5.00 — 5.00]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E8FFE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Especificidade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[1.89 — 2.04]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[4.89 — 5.04]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E8FFE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Estrutura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[2.68 — 3.03]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[4.72 — 4.99]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E8FFE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[3.06 — 3.38]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[4.62 — 4.94]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E8FFE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Completude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[2.89 — 3.04]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[5.00 — 5.00]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E8FF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Implicacoes para o Negocio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3500" cy="100584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Produtividade em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Tarefas que exigiriam um consultor senior para formatar corretamente (controles, artigos, tabelas de gap analysis) podem ser feitas em minutos. Output ja sai no formato auditavel.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63500" cy="100584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Reducao de Risco de Omissao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Sem skill, a IA consistentemente omite elementos criticos: controles novos do ISO 2022, requisitos de DPIA do GDPR para dados de saude, funcao Govern do NIST CSF 2.0. Com skill, completude = 100%.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63500" cy="100584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Escalabilidade e Padronizacao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Skills sao modulares e reutilizaveis. Qualquer membro da equipe obtem o mesmo nivel de qualidade, independente da sua experiencia em GRC. Variancia reduzida em 46%.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79"/>
            <a:ext cx="6350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Custo Zero de Integracao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5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Skills sao open source (GitHub). Ganho de +68% na qualidade sem investimento em infraestrutura, licencas ou treinamento adicional.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Proximos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Integrar as 3 skills validadas no workflow de compliance da equipe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8B"/>
                </a:solidFill>
                <a:latin typeface="Calibri"/>
              </a:defRPr>
            </a:pPr>
            <a:r>
              <a:t>Imediato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97480"/>
            <a:ext cx="640080" cy="64008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Adicionar skills para SOC 2 e HIPAA (disponiveis no mesmo repositorio)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Calibri"/>
              </a:defRPr>
            </a:pPr>
            <a:r>
              <a:t>Curto prazo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931920"/>
            <a:ext cx="640080" cy="640080"/>
          </a:xfrm>
          <a:prstGeom prst="ellipse">
            <a:avLst/>
          </a:prstGeom>
          <a:solidFill>
            <a:srgbClr val="A87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Customizar skills com politicas internas e controles especificos da organizacao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CF7"/>
                </a:solidFill>
                <a:latin typeface="Calibri"/>
              </a:defRPr>
            </a:pPr>
            <a:r>
              <a:t>Medio prazo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16636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74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Reavaliar trimestralmente conforme frameworks sao atualizados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Calibri"/>
              </a:defRPr>
            </a:pPr>
            <a:r>
              <a:t>Continuo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CCCC"/>
                </a:solidFill>
                <a:latin typeface="Calibri"/>
              </a:defRPr>
            </a:pPr>
            <a:r>
              <a:t>Skills de GRC melhoram a qualidade das respostas de IA em compliance em 68%, com o maior impacto em especificidade (+153%) e completude (+69%), transformando outputs genericos em entregas prontas para auditoria.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C98B"/>
                </a:solidFill>
                <a:latin typeface="Calibri"/>
              </a:defRPr>
            </a:pPr>
            <a:r>
              <a:t>+68%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melhoria</a:t>
            </a:r>
            <a:br/>
            <a:r>
              <a:t>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9AF5"/>
                </a:solidFill>
                <a:latin typeface="Calibri"/>
              </a:defRPr>
            </a:pPr>
            <a:r>
              <a:t>+153%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especificidade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87CF7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completude</a:t>
            </a:r>
            <a:br/>
            <a:r>
              <a:t>com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A623"/>
                </a:solidFill>
                <a:latin typeface="Calibri"/>
              </a:defRPr>
            </a:pPr>
            <a:r>
              <a:t>p &lt; 0.001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significancia</a:t>
            </a:r>
            <a:br/>
            <a:r>
              <a:t>estatistica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Benchmark: 54 avaliacoes | 3 frameworks | 3x repeticoes | IC 95% | Claude Opus 4.6 | Abril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Fernando P. Marciano — Relatorio tecnico completo disponivel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